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JetBrains Mono Bold" charset="1" panose="02010809030102050004"/>
      <p:regular r:id="rId12"/>
    </p:embeddedFont>
    <p:embeddedFont>
      <p:font typeface="Press Start 2P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519" y="-94171"/>
            <a:ext cx="18616845" cy="10477543"/>
          </a:xfrm>
          <a:custGeom>
            <a:avLst/>
            <a:gdLst/>
            <a:ahLst/>
            <a:cxnLst/>
            <a:rect r="r" b="b" t="t" l="l"/>
            <a:pathLst>
              <a:path h="10477543" w="18616845">
                <a:moveTo>
                  <a:pt x="0" y="0"/>
                </a:moveTo>
                <a:lnTo>
                  <a:pt x="18616845" y="0"/>
                </a:lnTo>
                <a:lnTo>
                  <a:pt x="18616845" y="10477543"/>
                </a:lnTo>
                <a:lnTo>
                  <a:pt x="0" y="1047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5929" y="383537"/>
            <a:ext cx="17067523" cy="9509062"/>
            <a:chOff x="0" y="0"/>
            <a:chExt cx="22756697" cy="12678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1977069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054826" y="0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622386" y="1511125"/>
            <a:ext cx="13054608" cy="1898937"/>
          </a:xfrm>
          <a:custGeom>
            <a:avLst/>
            <a:gdLst/>
            <a:ahLst/>
            <a:cxnLst/>
            <a:rect r="r" b="b" t="t" l="l"/>
            <a:pathLst>
              <a:path h="1898937" w="13054608">
                <a:moveTo>
                  <a:pt x="0" y="0"/>
                </a:moveTo>
                <a:lnTo>
                  <a:pt x="13054608" y="0"/>
                </a:lnTo>
                <a:lnTo>
                  <a:pt x="13054608" y="1898938"/>
                </a:lnTo>
                <a:lnTo>
                  <a:pt x="0" y="1898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0807" r="-450" b="-6923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6858000"/>
            <a:ext cx="164592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sz="2400" b="1">
                <a:solidFill>
                  <a:srgbClr val="A7CF27"/>
                </a:solidFill>
                <a:latin typeface="JetBrains Mono Bold"/>
              </a:rPr>
              <a:t>Team: </a:t>
            </a:r>
            <a:r>
              <a:rPr sz="2400" b="1">
                <a:solidFill>
                  <a:srgbClr val="FFFFFF"/>
                </a:solidFill>
                <a:latin typeface="JetBrains Mono Bold"/>
              </a:rPr>
              <a:t>Kasa.Edge   |   Jurisdiction: Greater Bengaluru Authority (BBMP)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38232" y="3495788"/>
            <a:ext cx="9422917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sz="2800" b="1">
                <a:solidFill>
                  <a:srgbClr val="FFFFFF"/>
                </a:solidFill>
                <a:latin typeface="JetBrains Mono Bold"/>
              </a:rPr>
              <a:t>TRACK: OPEN INNOVATION (CIVIC TECH &amp; AI)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589520"/>
            <a:ext cx="164592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sz="2200" b="1">
                <a:solidFill>
                  <a:srgbClr val="A7CF27"/>
                </a:solidFill>
                <a:latin typeface="JetBrains Mono Bold"/>
              </a:rPr>
              <a:t>Team Lead: </a:t>
            </a:r>
            <a:r>
              <a:rPr sz="2200" b="1">
                <a:solidFill>
                  <a:srgbClr val="FFFFFF"/>
                </a:solidFill>
                <a:latin typeface="JetBrains Mono Bold"/>
              </a:rPr>
              <a:t>Kartik Pushkar   |   GitHub: 17puskarkartik18-lgtm/kasa-edge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645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>
                <a:solidFill>
                  <a:srgbClr val="A7CF27"/>
                </a:solidFill>
                <a:latin typeface="Press Start 2P"/>
              </a:rPr>
              <a:t>KASA.EDGE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JetBrains Mono Bold"/>
              </a:rPr>
              <a:t>Passive Urban-Waste Sensing &amp; Civic-Triage Platform</a:t>
            </a:r>
          </a:p>
          <a:p>
            <a:pPr algn="ctr"/>
            <a:r>
              <a:rPr sz="1800" i="1">
                <a:solidFill>
                  <a:srgbClr val="00F5A0"/>
                </a:solidFill>
                <a:latin typeface="JetBrains Mono Bold"/>
              </a:rPr>
              <a:t>"Don't force citizens to report garbage. Let the city observe itself."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519" y="-94171"/>
            <a:ext cx="18616845" cy="10477543"/>
          </a:xfrm>
          <a:custGeom>
            <a:avLst/>
            <a:gdLst/>
            <a:ahLst/>
            <a:cxnLst/>
            <a:rect r="r" b="b" t="t" l="l"/>
            <a:pathLst>
              <a:path h="10477543" w="18616845">
                <a:moveTo>
                  <a:pt x="0" y="0"/>
                </a:moveTo>
                <a:lnTo>
                  <a:pt x="18616845" y="0"/>
                </a:lnTo>
                <a:lnTo>
                  <a:pt x="18616845" y="10477543"/>
                </a:lnTo>
                <a:lnTo>
                  <a:pt x="0" y="1047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5929" y="383537"/>
            <a:ext cx="17067523" cy="9509062"/>
            <a:chOff x="0" y="0"/>
            <a:chExt cx="22756697" cy="12678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1977069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054826" y="0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2286000"/>
            <a:ext cx="16916400" cy="6858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712480" indent="-356240" lvl="1">
              <a:lnSpc>
                <a:spcPts val="4620"/>
              </a:lnSpc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1. Urban Waste Crisis &amp; Escalating Dumps: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Bengaluru generates 5,500+ metric tons of municipal solid waste daily. Unmonitored curbside accumulation rapidly metastasizes into chronic illegal blackspots, health hazards, and stormwater drain blockages.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2. High Friction of Active Grievance Reporting (Sahaaya):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Current civic platforms rely entirely on citizens stopping, photographing, geotagging, and filing complaints. Friction leads to severe reporting apathy across most neighborhoods.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3. Critical Reporting Blindspots &amp; Disproportionate Duplication: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Wealthy commercial corridors file 50+ redundant tickets for the same pile (clogging call centers), while underserved peripheral residential wards suffer zero civic coverage.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4. High False-Positive Rate &amp; Machinery Misallocation: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Up to 35-40% of reports are false positives (sleeping street dogs, shadows, carts). Furthermore, heavy Construction &amp; Demolition (C&amp;D) rubble is routinely reported as regular waste, dispatching sweepers instead of tipper trucks.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5. Cost of Delayed Triage: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Average 48-72 hour response latency allows localized curb litter to decay and leak into stormwater drainage before municipal compactor trucks are dispatched.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3812" y="1121056"/>
            <a:ext cx="12831755" cy="77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</a:pPr>
            <a:r>
              <a:rPr sz="3600">
                <a:solidFill>
                  <a:srgbClr val="A7CF27"/>
                </a:solidFill>
                <a:latin typeface="Press Start 2P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519" y="-94171"/>
            <a:ext cx="18616845" cy="10477543"/>
          </a:xfrm>
          <a:custGeom>
            <a:avLst/>
            <a:gdLst/>
            <a:ahLst/>
            <a:cxnLst/>
            <a:rect r="r" b="b" t="t" l="l"/>
            <a:pathLst>
              <a:path h="10477543" w="18616845">
                <a:moveTo>
                  <a:pt x="0" y="0"/>
                </a:moveTo>
                <a:lnTo>
                  <a:pt x="18616845" y="0"/>
                </a:lnTo>
                <a:lnTo>
                  <a:pt x="18616845" y="10477543"/>
                </a:lnTo>
                <a:lnTo>
                  <a:pt x="0" y="1047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5929" y="383537"/>
            <a:ext cx="17067523" cy="9509062"/>
            <a:chOff x="0" y="0"/>
            <a:chExt cx="22756697" cy="12678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1977069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054826" y="0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2286000"/>
            <a:ext cx="16916400" cy="6858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712480" indent="-356240" lvl="1">
              <a:lnSpc>
                <a:spcPts val="4620"/>
              </a:lnSpc>
              <a:spcAft>
                <a:spcPts val="1400"/>
              </a:spcAft>
              <a:buFont typeface="Arial"/>
              <a:buChar char="•"/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1. Passive Urban Sensing Mesh (The Core Paradigm Shift):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Turns existing gig-economy fleets (delivery riders, couriers, cabs, autos) into an autonomous roving sensing network with zero driver interaction required.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2. Strict Zero-Stream Privacy Guarantee: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Continuous video never leaves the moving vehicle and is purged from RAM. Faces and license plates are blurred on-device prior to transmitting lightweight candidate crops (&lt;= 150 KB).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3. Multimodal Vision-Language Verification (Gemini 1.5 Flash):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Semantic VLM classifies waste category (mixed, overflowing bin, C&amp;D debris, animal) and evaluates path blockage; automatically rejects animals and routes C&amp;D debris to specialized tipper queues.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4. Deterministic Multi-Pass Spatial Corroboration Engine: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Correlates sightings using 30-meter Haversine clustering. Requires &gt;= 2 independent vehicle passes before issuing official municipal dispatch tickets (GBA-SHY-2026-XXXX).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5. Autonomous Chronic Blackspot Intelligence &amp; Fast Triage: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Detects recurring dump sites (&gt;= 2 relapses after clearance) and flags them for civic fencing and enforcement. Reduces detection-to-dispatch latency from 48 hours to under 30 minutes.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3812" y="1130581"/>
            <a:ext cx="12831755" cy="7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5"/>
              </a:lnSpc>
            </a:pPr>
            <a:r>
              <a:rPr sz="3400">
                <a:solidFill>
                  <a:srgbClr val="A7CF27"/>
                </a:solidFill>
                <a:latin typeface="Press Start 2P"/>
              </a:rPr>
              <a:t>PROPOSED SOLUTION: KASA.EDGE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519" y="-94171"/>
            <a:ext cx="18616845" cy="10477543"/>
          </a:xfrm>
          <a:custGeom>
            <a:avLst/>
            <a:gdLst/>
            <a:ahLst/>
            <a:cxnLst/>
            <a:rect r="r" b="b" t="t" l="l"/>
            <a:pathLst>
              <a:path h="10477543" w="18616845">
                <a:moveTo>
                  <a:pt x="0" y="0"/>
                </a:moveTo>
                <a:lnTo>
                  <a:pt x="18616845" y="0"/>
                </a:lnTo>
                <a:lnTo>
                  <a:pt x="18616845" y="10477543"/>
                </a:lnTo>
                <a:lnTo>
                  <a:pt x="0" y="1047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5929" y="383537"/>
            <a:ext cx="17067523" cy="9509062"/>
            <a:chOff x="0" y="0"/>
            <a:chExt cx="22756697" cy="12678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1977069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054826" y="0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2286000"/>
            <a:ext cx="16916400" cy="6858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480"/>
              </a:lnSpc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1. 5-Stage End-to-End Civic Architecture Pipeline: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[Fleet Dashcam] -&gt; [Edge Privacy &amp; Anonymization] -&gt; [Cloud Gemini VLM] -&gt; [30m Haversine Clustering] -&gt; [Deterministic Triage Policy] -&gt; [BBMP / Sahaaya 2.0 Dispatch]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2. On-Device Edge Computing &amp; Privacy Filter: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OpenCV &amp; NumPy for real-time localized face/license plate redaction; ISO 6709 QuickTime GPS metadata parser; bounded candidate patch compression (&lt;= 150 KB) preventing bandwidth drain.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3. Cloud Backend &amp; Spatial Corroboration Engine: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Python 3.9+, FastAPI, Uvicorn, SQLite3 with schema validation; Mathematical Spherical Haversine Algorithm (R=6371 km, 30m cluster radius) eliminating GIS database dependency.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4. Multimodal Vision-Language AI: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Google Gemini 1.5 Flash multimodal VLM with structured JSON schema outputs; deterministic heuristic verifier fallback ensuring 100% offline hackathon uptime.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7CF27"/>
                </a:solidFill>
                <a:latin typeface="JetBrains Mono Bold"/>
              </a:rPr>
              <a:t>• </a:t>
            </a:r>
            <a:r>
              <a:rPr sz="2000" b="1">
                <a:solidFill>
                  <a:srgbClr val="FDE047"/>
                </a:solidFill>
                <a:latin typeface="JetBrains Mono Bold"/>
              </a:rPr>
              <a:t>5. Real-Time Web GIS Command Center: </a:t>
            </a:r>
            <a:r>
              <a:rPr sz="1900" b="0">
                <a:solidFill>
                  <a:srgbClr val="FFFFFF"/>
                </a:solidFill>
                <a:latin typeface="JetBrains Mono Bold"/>
              </a:rPr>
              <a:t>Tailwind CSS dark-mode dashboard, Leaflet.js interactive corridor GIS map, Chart.js municipal analytics, and built-in 6-stage fleet simulator with automated ticket dispatch.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3440" y="1161849"/>
            <a:ext cx="15041119" cy="7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5"/>
              </a:lnSpc>
            </a:pPr>
            <a:r>
              <a:rPr sz="3600">
                <a:solidFill>
                  <a:srgbClr val="A7CF27"/>
                </a:solidFill>
                <a:latin typeface="Press Start 2P"/>
              </a:rPr>
              <a:t>TECH STACK &amp;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519" y="-94171"/>
            <a:ext cx="18616845" cy="10477543"/>
          </a:xfrm>
          <a:custGeom>
            <a:avLst/>
            <a:gdLst/>
            <a:ahLst/>
            <a:cxnLst/>
            <a:rect r="r" b="b" t="t" l="l"/>
            <a:pathLst>
              <a:path h="10477543" w="18616845">
                <a:moveTo>
                  <a:pt x="0" y="0"/>
                </a:moveTo>
                <a:lnTo>
                  <a:pt x="18616845" y="0"/>
                </a:lnTo>
                <a:lnTo>
                  <a:pt x="18616845" y="10477543"/>
                </a:lnTo>
                <a:lnTo>
                  <a:pt x="0" y="1047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5929" y="383537"/>
            <a:ext cx="17067523" cy="9509062"/>
            <a:chOff x="0" y="0"/>
            <a:chExt cx="22756697" cy="126787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1977069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054826" y="0"/>
              <a:ext cx="2701871" cy="701680"/>
            </a:xfrm>
            <a:custGeom>
              <a:avLst/>
              <a:gdLst/>
              <a:ahLst/>
              <a:cxnLst/>
              <a:rect r="r" b="b" t="t" l="l"/>
              <a:pathLst>
                <a:path h="701680" w="2701871">
                  <a:moveTo>
                    <a:pt x="0" y="0"/>
                  </a:moveTo>
                  <a:lnTo>
                    <a:pt x="2701871" y="0"/>
                  </a:lnTo>
                  <a:lnTo>
                    <a:pt x="2701871" y="701680"/>
                  </a:lnTo>
                  <a:lnTo>
                    <a:pt x="0" y="70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33812" y="2475283"/>
            <a:ext cx="12831755" cy="393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84"/>
              </a:lnSpc>
            </a:pPr>
            <a:r>
              <a:rPr sz="6400">
                <a:solidFill>
                  <a:srgbClr val="A7CF27"/>
                </a:solidFill>
                <a:latin typeface="Press Start 2P"/>
              </a:rPr>
              <a:t>Thank </a:t>
            </a:r>
            <a:r>
              <a:rPr sz="6400">
                <a:solidFill>
                  <a:srgbClr val="FFFFFF"/>
                </a:solidFill>
                <a:latin typeface="Press Start 2P"/>
              </a:rPr>
              <a:t>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645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>
                <a:solidFill>
                  <a:srgbClr val="00F5A0"/>
                </a:solidFill>
                <a:latin typeface="JetBrains Mono Bold"/>
              </a:rPr>
              <a:t>"Don't force citizens to report garbage. Let the city observe itself."</a:t>
            </a:r>
          </a:p>
          <a:p>
            <a:pPr algn="ctr">
              <a:spcAft>
                <a:spcPts val="1200"/>
              </a:spcAft>
            </a:pPr>
            <a:r>
              <a:rPr sz="2600" b="1">
                <a:solidFill>
                  <a:srgbClr val="A7CF27"/>
                </a:solidFill>
                <a:latin typeface="JetBrains Mono Bold"/>
              </a:rPr>
              <a:t>KASA.EDGE // PASSIVE CIVIC-TRIAGE OS 2.4</a:t>
            </a:r>
          </a:p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JetBrains Mono Bold"/>
              </a:rPr>
              <a:t>Live Command Center: http://localhost:8000 (FastAPI + Leaflet GIS + Fleet Simulator)</a:t>
            </a:r>
          </a:p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FDE047"/>
                </a:solidFill>
                <a:latin typeface="JetBrains Mono Bold"/>
              </a:rPr>
              <a:t>Open-Source Repository: https://github.com/17puskarkartik18-lgtm/kasa-edge</a:t>
            </a:r>
          </a:p>
          <a:p>
            <a:pPr algn="ctr">
              <a:spcAft>
                <a:spcPts val="1200"/>
              </a:spcAft>
            </a:pPr>
            <a:r>
              <a:rPr sz="2000" b="0">
                <a:solidFill>
                  <a:srgbClr val="A0AEC0"/>
                </a:solidFill>
                <a:latin typeface="JetBrains Mono Bold"/>
              </a:rPr>
              <a:t>CI Pipeline: Matrix Builds Passing (Python 3.9, 3.10, 3.11) | MIT Licensed</a:t>
            </a:r>
          </a:p>
          <a:p>
            <a:pPr algn="ctr">
              <a:spcAft>
                <a:spcPts val="1200"/>
              </a:spcAft>
            </a:pPr>
            <a:r>
              <a:rPr sz="2400" b="1">
                <a:solidFill>
                  <a:srgbClr val="A7CF27"/>
                </a:solidFill>
                <a:latin typeface="JetBrains Mono Bold"/>
              </a:rPr>
              <a:t>&gt;&gt; Open for Questions, Evaluation &amp; Live Interactive Demonstration &lt;&lt;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DAHWNUe0K2w</dc:identifier>
  <dcterms:modified xsi:type="dcterms:W3CDTF">2011-08-01T06:04:30Z</dcterms:modified>
  <cp:revision>1</cp:revision>
  <dc:title>Copy of HACKERING 2.0 PPT TEMPLATE</dc:title>
</cp:coreProperties>
</file>